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d0c28b5d54798" /><Relationship Type="http://schemas.openxmlformats.org/officeDocument/2006/relationships/extended-properties" Target="/docProps/app.xml" Id="R3da6ee45b43641fc" /><Relationship Type="http://schemas.openxmlformats.org/officeDocument/2006/relationships/officeDocument" Target="/ppt/presentation.xml" Id="R32302acde2794b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8f4a92d564984"/>
  </p:sldMasterIdLst>
  <p:notesMasterIdLst>
    <p:notesMasterId xmlns:r="http://schemas.openxmlformats.org/officeDocument/2006/relationships" r:id="R50b37ec415324e41"/>
  </p:notesMasterIdLst>
  <p:sldIdLst>
    <p:sldId xmlns:r="http://schemas.openxmlformats.org/officeDocument/2006/relationships" id="256" r:id="Rf5fc0e618a1e45d3"/>
    <p:sldId xmlns:r="http://schemas.openxmlformats.org/officeDocument/2006/relationships" id="257" r:id="Rcd2ac32e92b34d97"/>
    <p:sldId xmlns:r="http://schemas.openxmlformats.org/officeDocument/2006/relationships" id="258" r:id="R80305093791240c4"/>
    <p:sldId xmlns:r="http://schemas.openxmlformats.org/officeDocument/2006/relationships" id="259" r:id="Re07788d069834108"/>
    <p:sldId xmlns:r="http://schemas.openxmlformats.org/officeDocument/2006/relationships" id="260" r:id="R052e3c7646a54488"/>
    <p:sldId xmlns:r="http://schemas.openxmlformats.org/officeDocument/2006/relationships" id="261" r:id="R48ee4a9c2bb74e56"/>
    <p:sldId xmlns:r="http://schemas.openxmlformats.org/officeDocument/2006/relationships" id="262" r:id="R2ad16100ac0c438f"/>
    <p:sldId xmlns:r="http://schemas.openxmlformats.org/officeDocument/2006/relationships" id="263" r:id="R4480e059daaf4aa8"/>
    <p:sldId xmlns:r="http://schemas.openxmlformats.org/officeDocument/2006/relationships" id="264" r:id="Rac62630977364ac1"/>
    <p:sldId xmlns:r="http://schemas.openxmlformats.org/officeDocument/2006/relationships" id="265" r:id="R5e1206dad8794991"/>
    <p:sldId xmlns:r="http://schemas.openxmlformats.org/officeDocument/2006/relationships" id="266" r:id="R186603d1014c4cef"/>
    <p:sldId xmlns:r="http://schemas.openxmlformats.org/officeDocument/2006/relationships" id="267" r:id="Rb7594b1717db4065"/>
    <p:sldId xmlns:r="http://schemas.openxmlformats.org/officeDocument/2006/relationships" id="268" r:id="R01593cfba0a2488f"/>
    <p:sldId xmlns:r="http://schemas.openxmlformats.org/officeDocument/2006/relationships" id="269" r:id="R28f0714e696641e4"/>
    <p:sldId xmlns:r="http://schemas.openxmlformats.org/officeDocument/2006/relationships" id="270" r:id="R237d8213c7e2474f"/>
    <p:sldId xmlns:r="http://schemas.openxmlformats.org/officeDocument/2006/relationships" id="271" r:id="R252a1102de8f40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6897c1f5a04a26" /><Relationship Type="http://schemas.openxmlformats.org/officeDocument/2006/relationships/slideMaster" Target="/ppt/slideMasters/slideMaster1.xml" Id="Re398f4a92d564984" /><Relationship Type="http://schemas.openxmlformats.org/officeDocument/2006/relationships/notesMaster" Target="/ppt/notesMasters/notesMaster1.xml" Id="R50b37ec415324e41" /><Relationship Type="http://schemas.openxmlformats.org/officeDocument/2006/relationships/presProps" Target="/ppt/presProps.xml" Id="Ra4b846c8b6664325" /><Relationship Type="http://schemas.openxmlformats.org/officeDocument/2006/relationships/tableStyles" Target="/ppt/tableStyles.xml" Id="Rf5ef922229744962" /><Relationship Type="http://schemas.openxmlformats.org/officeDocument/2006/relationships/slide" Target="/ppt/slides/slide1.xml" Id="Rf5fc0e618a1e45d3" /><Relationship Type="http://schemas.openxmlformats.org/officeDocument/2006/relationships/slide" Target="/ppt/slides/slide2.xml" Id="Rcd2ac32e92b34d97" /><Relationship Type="http://schemas.openxmlformats.org/officeDocument/2006/relationships/slide" Target="/ppt/slides/slide3.xml" Id="R80305093791240c4" /><Relationship Type="http://schemas.openxmlformats.org/officeDocument/2006/relationships/slide" Target="/ppt/slides/slide4.xml" Id="Re07788d069834108" /><Relationship Type="http://schemas.openxmlformats.org/officeDocument/2006/relationships/slide" Target="/ppt/slides/slide5.xml" Id="R052e3c7646a54488" /><Relationship Type="http://schemas.openxmlformats.org/officeDocument/2006/relationships/slide" Target="/ppt/slides/slide6.xml" Id="R48ee4a9c2bb74e56" /><Relationship Type="http://schemas.openxmlformats.org/officeDocument/2006/relationships/slide" Target="/ppt/slides/slide7.xml" Id="R2ad16100ac0c438f" /><Relationship Type="http://schemas.openxmlformats.org/officeDocument/2006/relationships/slide" Target="/ppt/slides/slide8.xml" Id="R4480e059daaf4aa8" /><Relationship Type="http://schemas.openxmlformats.org/officeDocument/2006/relationships/slide" Target="/ppt/slides/slide9.xml" Id="Rac62630977364ac1" /><Relationship Type="http://schemas.openxmlformats.org/officeDocument/2006/relationships/slide" Target="/ppt/slides/slide10.xml" Id="R5e1206dad8794991" /><Relationship Type="http://schemas.openxmlformats.org/officeDocument/2006/relationships/slide" Target="/ppt/slides/slide11.xml" Id="R186603d1014c4cef" /><Relationship Type="http://schemas.openxmlformats.org/officeDocument/2006/relationships/slide" Target="/ppt/slides/slide12.xml" Id="Rb7594b1717db4065" /><Relationship Type="http://schemas.openxmlformats.org/officeDocument/2006/relationships/slide" Target="/ppt/slides/slide13.xml" Id="R01593cfba0a2488f" /><Relationship Type="http://schemas.openxmlformats.org/officeDocument/2006/relationships/slide" Target="/ppt/slides/slide14.xml" Id="R28f0714e696641e4" /><Relationship Type="http://schemas.openxmlformats.org/officeDocument/2006/relationships/slide" Target="/ppt/slides/slide15.xml" Id="R237d8213c7e2474f" /><Relationship Type="http://schemas.openxmlformats.org/officeDocument/2006/relationships/slide" Target="/ppt/slides/slide16.xml" Id="R252a1102de8f40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bdbc8b093d49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2b27c67e944ab7" /><Relationship Type="http://schemas.openxmlformats.org/officeDocument/2006/relationships/notesMaster" Target="/ppt/notesMasters/notesMaster1.xml" Id="Rc7b5d862f39c41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ef558a5c94158" /><Relationship Type="http://schemas.openxmlformats.org/officeDocument/2006/relationships/notesMaster" Target="/ppt/notesMasters/notesMaster1.xml" Id="R12756c2bd9d74d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e2394b3b143e9" /><Relationship Type="http://schemas.openxmlformats.org/officeDocument/2006/relationships/notesMaster" Target="/ppt/notesMasters/notesMaster1.xml" Id="R0b7762bf47ed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6e2eeda9f24093" /><Relationship Type="http://schemas.openxmlformats.org/officeDocument/2006/relationships/notesMaster" Target="/ppt/notesMasters/notesMaster1.xml" Id="Rd048e61dcaea4b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f489a6ac24381" /><Relationship Type="http://schemas.openxmlformats.org/officeDocument/2006/relationships/notesMaster" Target="/ppt/notesMasters/notesMaster1.xml" Id="R9729907aeaaa4e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23826d32014be9" /><Relationship Type="http://schemas.openxmlformats.org/officeDocument/2006/relationships/notesMaster" Target="/ppt/notesMasters/notesMaster1.xml" Id="Raa6acc57a45149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112ef5f734687" /><Relationship Type="http://schemas.openxmlformats.org/officeDocument/2006/relationships/notesMaster" Target="/ppt/notesMasters/notesMaster1.xml" Id="Re8ac72d8dec2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f6b6c2f9f34cc4" /><Relationship Type="http://schemas.openxmlformats.org/officeDocument/2006/relationships/notesMaster" Target="/ppt/notesMasters/notesMaster1.xml" Id="R6fdf6b420f994f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8e1f01ed724ba6" /><Relationship Type="http://schemas.openxmlformats.org/officeDocument/2006/relationships/notesMaster" Target="/ppt/notesMasters/notesMaster1.xml" Id="R5e1afc26721e40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3b75e8c5fc4d22" /><Relationship Type="http://schemas.openxmlformats.org/officeDocument/2006/relationships/notesMaster" Target="/ppt/notesMasters/notesMaster1.xml" Id="R66d225ae36ca45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a7ada2797249dd" /><Relationship Type="http://schemas.openxmlformats.org/officeDocument/2006/relationships/notesMaster" Target="/ppt/notesMasters/notesMaster1.xml" Id="R1ba8bc436a7047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fb7ad6e9594915" /><Relationship Type="http://schemas.openxmlformats.org/officeDocument/2006/relationships/notesMaster" Target="/ppt/notesMasters/notesMaster1.xml" Id="R8aad9ff50f0c46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73cb968d264ba6" /><Relationship Type="http://schemas.openxmlformats.org/officeDocument/2006/relationships/notesMaster" Target="/ppt/notesMasters/notesMaster1.xml" Id="Re92cf752540842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5fe8b90d7d4a25" /><Relationship Type="http://schemas.openxmlformats.org/officeDocument/2006/relationships/notesMaster" Target="/ppt/notesMasters/notesMaster1.xml" Id="Rb6783d818f6c4e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f586b03cb948bc" /><Relationship Type="http://schemas.openxmlformats.org/officeDocument/2006/relationships/notesMaster" Target="/ppt/notesMasters/notesMaster1.xml" Id="R59d4257ca17748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3a31e3efe24ead" /><Relationship Type="http://schemas.openxmlformats.org/officeDocument/2006/relationships/notesMaster" Target="/ppt/notesMasters/notesMaster1.xml" Id="R84ecaf55fd1b4a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封面截图由用户提供，来自 ForgeGuard 项目实际桌面界面。仪表盘内容为演示数据。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E:\软件测试\ForgeGuard-Nexus-5.0\提交材料\屏幕截图 2026-08-05 115415.png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E:\软件测试\AI+工业制造-工业Agent赛题.pdf (accessed 2026-08-05)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E:\软件测试\ForgeGuard-Nexus-5.0\docs\NEW_INNOVATION_SCOPE_ZH.md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E:\软件测试\ForgeGuard-Nexus-5.0\docs\NEW_INNOVATION_SCOPE_ZH.md (accessed 2026-08-05)</a:t>
            </a:r>
          </a:p>
          <a:p xmlns:a="http://schemas.openxmlformats.org/drawingml/2006/main">
            <a:r>
              <a:t>- E:\软件测试\ForgeGuard-Nexus-5.0\docs\AGENT_CONTRACTS.md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E:\软件测试\ForgeGuard-Nexus-5.0\docs\architecture.md (accessed 2026-08-05)</a:t>
            </a:r>
          </a:p>
          <a:p xmlns:a="http://schemas.openxmlformats.org/drawingml/2006/main">
            <a:r>
              <a:t>- E:\软件测试\ForgeGuard-Nexus-5.0\docs\AGENT_CONTRACTS.md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E:\软件测试\ForgeGuard-Nexus-5.0\docs\architecture.md (accessed 2026-08-05)</a:t>
            </a:r>
          </a:p>
          <a:p xmlns:a="http://schemas.openxmlformats.org/drawingml/2006/main">
            <a:r>
              <a:t>- E:\软件测试\ForgeGuard-Nexus-5.0\docs\model-strategy.md (accessed 2026-08-05)</a:t>
            </a:r>
          </a:p>
          <a:p xmlns:a="http://schemas.openxmlformats.org/drawingml/2006/main">
            <a:r>
              <a:t>- E:\软件测试\ForgeGuard-Nexus-5.0\docs\MODEL_AND_DATA_BOUNDARIES.md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页面截图由用户提供，来自 ForgeGuard 项目实际桌面界面。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E:\软件测试\ForgeGuard-Nexus-5.0\docs\AI_AGENTS_GUIDE_ZH.md (accessed 2026-08-05)</a:t>
            </a:r>
          </a:p>
          <a:p xmlns:a="http://schemas.openxmlformats.org/drawingml/2006/main">
            <a:r>
              <a:t>- E:\软件测试\ForgeGuard-Nexus-5.0\docs\AGENT_CONTRACTS.md (accessed 2026-08-05)</a:t>
            </a:r>
          </a:p>
          <a:p xmlns:a="http://schemas.openxmlformats.org/drawingml/2006/main">
            <a:r>
              <a:t>- E:\软件测试\ForgeGuard-Nexus-5.0\提交材料\屏幕截图 2026-08-05 115442.png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E:\软件测试\ForgeGuard-Nexus-5.0\docs\architecture.md (accessed 2026-08-05)</a:t>
            </a:r>
          </a:p>
          <a:p xmlns:a="http://schemas.openxmlformats.org/drawingml/2006/main">
            <a:r>
              <a:t>- E:\软件测试\ForgeGuard-Nexus-5.0\docs\model-strategy.md (accessed 2026-08-05)</a:t>
            </a:r>
          </a:p>
          <a:p xmlns:a="http://schemas.openxmlformats.org/drawingml/2006/main">
            <a:r>
              <a:t>- E:\软件测试\ForgeGuard-Nexus-5.0\docs\MODEL_AND_DATA_BOUNDARIES.md (accessed 2026-08-05)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数据检测页面截图由用户提供；25 个场景为内置模拟场景。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E:\软件测试\ForgeGuard-Nexus-5.0\docs\WINDOWS_EXE_ZH.md (accessed 2026-08-05)</a:t>
            </a:r>
          </a:p>
          <a:p xmlns:a="http://schemas.openxmlformats.org/drawingml/2006/main">
            <a:r>
              <a:t>- E:\软件测试\ForgeGuard-Nexus-5.0\docs\model-strategy.md (accessed 2026-08-05)</a:t>
            </a:r>
          </a:p>
          <a:p xmlns:a="http://schemas.openxmlformats.org/drawingml/2006/main">
            <a:r>
              <a:t>- E:\软件测试\ForgeGuard-Nexus-5.0\提交材料\屏幕截图 2026-08-05 115516.png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截图和数值来自内置模拟场景，仅作流程演示。截图由用户提供。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E:\软件测试\ForgeGuard-Nexus-5.0\提交材料\屏幕截图 2026-08-05 115426.png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截图来自内置模拟场景的多目标维修决策页，由用户提供。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E:\软件测试\ForgeGuard-Nexus-5.0\docs\NEW_INNOVATION_SCOPE_ZH.md (accessed 2026-08-05)</a:t>
            </a:r>
          </a:p>
          <a:p xmlns:a="http://schemas.openxmlformats.org/drawingml/2006/main">
            <a:r>
              <a:t>- E:\软件测试\ForgeGuard-Nexus-5.0\docs\AGENT_CONTRACTS.md (accessed 2026-08-05)</a:t>
            </a:r>
          </a:p>
          <a:p xmlns:a="http://schemas.openxmlformats.org/drawingml/2006/main">
            <a:r>
              <a:t>- E:\软件测试\ForgeGuard-Nexus-5.0\提交材料\屏幕截图 2026-08-05 115532.png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E:\软件测试\ForgeGuard-Nexus-5.0\docs\AGENT_CONTRACTS.md (accessed 2026-08-05)</a:t>
            </a:r>
          </a:p>
          <a:p xmlns:a="http://schemas.openxmlformats.org/drawingml/2006/main">
            <a:r>
              <a:t>- E:\软件测试\ForgeGuard-Nexus-5.0\docs\competition-compliance.md (accessed 2026-08-05)</a:t>
            </a:r>
          </a:p>
          <a:p xmlns:a="http://schemas.openxmlformats.org/drawingml/2006/main">
            <a:r>
              <a:t>- E:\软件测试\ForgeGuard-Nexus-5.0\docs\data-compliance.md (accessed 2026-08-05)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E:\软件测试\ForgeGuard-Nexus-5.0\artifacts\benchmarks\latest.md (accessed 2026-08-05)</a:t>
            </a:r>
          </a:p>
          <a:p xmlns:a="http://schemas.openxmlformats.org/drawingml/2006/main">
            <a:r>
              <a:t>- E:\软件测试\ForgeGuard-Nexus-5.0\docs\model-benchmark-results.md (accessed 2026-08-05)</a:t>
            </a:r>
          </a:p>
          <a:p xmlns:a="http://schemas.openxmlformats.org/drawingml/2006/main">
            <a:r>
              <a:t>- E:\软件测试\ForgeGuard-Nexus-5.0\artifacts\fault-campaigns\latest.md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E:\软件测试\ForgeGuard-Nexus-5.0\WINDOWS_START_HERE.txt (accessed 2026-08-05)</a:t>
            </a:r>
          </a:p>
          <a:p xmlns:a="http://schemas.openxmlformats.org/drawingml/2006/main">
            <a:r>
              <a:t>- E:\软件测试\ForgeGuard-Nexus-5.0\docs\WINDOWS_EXE_ZH.md (accessed 2026-08-05)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E:\软件测试\ForgeGuard-Nexus-5.0\runtime-data\windows-launcher.log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E:\软件测试\ForgeGuard-Nexus-5.0\docs\WINDOWS_EXE_ZH.md (accessed 2026-08-05)</a:t>
            </a:r>
          </a:p>
          <a:p xmlns:a="http://schemas.openxmlformats.org/drawingml/2006/main">
            <a:r>
              <a:t>- E:\软件测试\ForgeGuard-Nexus-5.0\docs\NATIVE_ENVIRONMENT_ZH.md (accessed 2026-08-05)</a:t>
            </a:r>
          </a:p>
          <a:p xmlns:a="http://schemas.openxmlformats.org/drawingml/2006/main">
            <a:r>
              <a:t>- E:\软件测试\ForgeGuard-Nexus-5.0\deploy\windows\install-native.ps1 (accessed 2026-08-05)</a:t>
            </a:r>
          </a:p>
          <a:p xmlns:a="http://schemas.openxmlformats.org/drawingml/2006/main">
            <a:r>
              <a:t>- E:\软件测试\ForgeGuard-Nexus-5.0\docs\DEPLOYMENT_ZH.md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E:\软件测试\ForgeGuard-Nexus-5.0\LICENSE (accessed 2026-08-05)</a:t>
            </a:r>
          </a:p>
          <a:p xmlns:a="http://schemas.openxmlformats.org/drawingml/2006/main">
            <a:r>
              <a:t>- E:\软件测试\ForgeGuard-Nexus-5.0\MANIFEST.sha256 (accessed 2026-08-05)</a:t>
            </a:r>
          </a:p>
          <a:p xmlns:a="http://schemas.openxmlformats.org/drawingml/2006/main">
            <a:r>
              <a:t>- E:\软件测试\ForgeGuard-Nexus-5.0\docs\SOFTWARE_BOM.md (accessed 2026-08-05)</a:t>
            </a:r>
          </a:p>
          <a:p xmlns:a="http://schemas.openxmlformats.org/drawingml/2006/main">
            <a:r>
              <a:t>- E:\软件测试\ForgeGuard-Nexus-5.0\docs\data-compliance.md (accessed 2026-08-05)</a:t>
            </a:r>
          </a:p>
          <a:p xmlns:a="http://schemas.openxmlformats.org/drawingml/2006/main">
            <a:r>
              <a:t>- E:\软件测试\ForgeGuard-Nexus-5.0\docs\competition-compliance.md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E:\软件测试\ForgeGuard-Nexus-5.0\README.md (accessed 2026-08-05)</a:t>
            </a:r>
          </a:p>
          <a:p xmlns:a="http://schemas.openxmlformats.org/drawingml/2006/main">
            <a:r>
              <a:t>- E:\软件测试\ForgeGuard-Nexus-5.0\docs\AGENT_CONTRACTS.md (accessed 2026-08-05)</a:t>
            </a:r>
          </a:p>
          <a:p xmlns:a="http://schemas.openxmlformats.org/drawingml/2006/main">
            <a:r>
              <a:t>- E:\软件测试\ForgeGuard-Nexus-5.0\docs\competition-compliance.md (accessed 2026-08-05)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2cf6eaadb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488215d20430d" /><Relationship Type="http://schemas.openxmlformats.org/officeDocument/2006/relationships/slideLayout" Target="/ppt/slideLayouts/slideLayout1.xml" Id="R2734497d968f4d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34497d968f4d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322203db34a96" /><Relationship Type="http://schemas.openxmlformats.org/officeDocument/2006/relationships/image" Target="/ppt/media/image.png" Id="R44c0149df5b042b8" /><Relationship Type="http://schemas.openxmlformats.org/officeDocument/2006/relationships/notesSlide" Target="/ppt/notesSlides/notesSlide1.xml" Id="Rb5e10019dbef41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707e346b84444" /><Relationship Type="http://schemas.openxmlformats.org/officeDocument/2006/relationships/notesSlide" Target="/ppt/notesSlides/notesSlide2.xml" Id="R4914a0e8a6b142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4ebc63a154371" /><Relationship Type="http://schemas.openxmlformats.org/officeDocument/2006/relationships/notesSlide" Target="/ppt/notesSlides/notesSlide3.xml" Id="R4d5f7214bb9147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0c74cb44b4f90" /><Relationship Type="http://schemas.openxmlformats.org/officeDocument/2006/relationships/notesSlide" Target="/ppt/notesSlides/notesSlide4.xml" Id="R8ba6cfd3810d41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f8de306dd4dc9" /><Relationship Type="http://schemas.openxmlformats.org/officeDocument/2006/relationships/notesSlide" Target="/ppt/notesSlides/notesSlide5.xml" Id="R686c79556e1e4d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213b3a8ec405e" /><Relationship Type="http://schemas.openxmlformats.org/officeDocument/2006/relationships/image" Target="/ppt/media/image2.png" Id="R9901220d817a4c6a" /><Relationship Type="http://schemas.openxmlformats.org/officeDocument/2006/relationships/notesSlide" Target="/ppt/notesSlides/notesSlide6.xml" Id="R07be353c3fca46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22670b5c44c2f" /><Relationship Type="http://schemas.openxmlformats.org/officeDocument/2006/relationships/notesSlide" Target="/ppt/notesSlides/notesSlide7.xml" Id="R8a0eb064100f42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b2e63752d4c82" /><Relationship Type="http://schemas.openxmlformats.org/officeDocument/2006/relationships/image" Target="/ppt/media/image3.png" Id="R8bcacf34da1c4cee" /><Relationship Type="http://schemas.openxmlformats.org/officeDocument/2006/relationships/notesSlide" Target="/ppt/notesSlides/notesSlide8.xml" Id="R11ce6a8d560040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dc12da7894cee" /><Relationship Type="http://schemas.openxmlformats.org/officeDocument/2006/relationships/image" Target="/ppt/media/image4.png" Id="R2a3abdb9ffe04fab" /><Relationship Type="http://schemas.openxmlformats.org/officeDocument/2006/relationships/notesSlide" Target="/ppt/notesSlides/notesSlide9.xml" Id="R8ccc456eea8641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da4d6c6ed49c5" /><Relationship Type="http://schemas.openxmlformats.org/officeDocument/2006/relationships/image" Target="/ppt/media/image5.png" Id="Rab6cd3c840194445" /><Relationship Type="http://schemas.openxmlformats.org/officeDocument/2006/relationships/notesSlide" Target="/ppt/notesSlides/notesSlide10.xml" Id="R55bebf1613f1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b5bf37a8b42b6" /><Relationship Type="http://schemas.openxmlformats.org/officeDocument/2006/relationships/notesSlide" Target="/ppt/notesSlides/notesSlide11.xml" Id="Rb1d6ef87283840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e21009aa742d4" /><Relationship Type="http://schemas.openxmlformats.org/officeDocument/2006/relationships/notesSlide" Target="/ppt/notesSlides/notesSlide12.xml" Id="R9d4d0cf33a284d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86575cfce4a80" /><Relationship Type="http://schemas.openxmlformats.org/officeDocument/2006/relationships/notesSlide" Target="/ppt/notesSlides/notesSlide13.xml" Id="Rdb7264e07c044b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fbb543d434821" /><Relationship Type="http://schemas.openxmlformats.org/officeDocument/2006/relationships/notesSlide" Target="/ppt/notesSlides/notesSlide14.xml" Id="R075720b094c444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c329fab154a05" /><Relationship Type="http://schemas.openxmlformats.org/officeDocument/2006/relationships/notesSlide" Target="/ppt/notesSlides/notesSlide15.xml" Id="R4e2f6789f05648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b726f2f4f4067" /><Relationship Type="http://schemas.openxmlformats.org/officeDocument/2006/relationships/notesSlide" Target="/ppt/notesSlides/notesSlide16.xml" Id="R14711db8b20a44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7280B-D237-404B-8531-7BDADA8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GOAI 无界智体 · AI + 工业制造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8CC76-3645-4103-8DE6-AE2B76FD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4953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ForgeGuard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Nexus 5.0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4B8F4-EEA3-4947-82CD-E23EA844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面向设备运维与供应链协同的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证据驱动工业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0F8F1-3E24-4F3A-8B13-DB4F933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让一次设备异常，形成可验证、可审批、可复盘的维护行动。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B7EB6-9F5A-4644-945A-165234F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离线可运行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1EECC-4CE7-4406-8EBC-00E34CD0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95875"/>
            <a:ext cx="1371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人机协同闭环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ED54C-1114-4A40-A8AD-40DD8FF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95875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边缘可部署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BD038-94E1-4CDE-83F2-55C47CFD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66750"/>
            <a:ext cx="5676900" cy="5276850"/>
          </a:xfrm>
          <a:prstGeom xmlns:a="http://schemas.openxmlformats.org/drawingml/2006/main" prst="roundRect">
            <a:avLst>
              <a:gd name="adj" fmla="val 5054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5DF88-EE3C-4706-90BA-6D7F9756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90600"/>
            <a:ext cx="5257800" cy="3343275"/>
          </a:xfrm>
          <a:prstGeom xmlns:a="http://schemas.openxmlformats.org/drawingml/2006/main" prst="roundRect">
            <a:avLst>
              <a:gd name="adj" fmla="val 6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0149df5b042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91250" y="1066800"/>
            <a:ext cx="5105400" cy="3190875"/>
          </a:xfrm>
          <a:prstGeom xmlns:a="http://schemas.openxmlformats.org/drawingml/2006/main" prst="roundRect">
            <a:avLst>
              <a:gd name="adj" fmla="val 417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65C78-5539-449E-870E-BA299B0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52950"/>
            <a:ext cx="40767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F6121-8DBF-4D93-9090-B19C259C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33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C7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C7B5"/>
                </a:solidFill>
                <a:latin typeface="Arial"/>
                <a:ea typeface="Arial"/>
                <a:cs typeface="Arial"/>
              </a:rPr>
              <a:t>EVIDENCE-FIRST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CC2D9-F842-4F28-A115-1103DD8F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48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 → 证据 → 决策 → 工单 → 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87B71-89A5-4166-A624-CED83C61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初赛方案 · 2026.08</a:t>
            </a:r>
          </a:p>
        </p:txBody>
      </p:sp>
    </p:spTree>
    <p:extLst>
      <p:ext uri="{BB962C8B-B14F-4D97-AF65-F5344CB8AC3E}">
        <p14:creationId xmlns:p14="http://schemas.microsoft.com/office/powerpoint/2010/main" val="1545875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B7EAE-F86F-495C-AEF8-428156E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01 / SCENARIO &amp; PAIN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DC8B7-645B-4CCD-BF92-1BA36D93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工业异常并不缺信号，缺的是跨部门闭环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B9F37-316F-4A88-B944-8D0D02E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4E8B0-0EAE-4A84-BD2D-B3F18052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91C2D-898A-44F0-BA50-B8DEB1FD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旋转机械与关键设备的故障处理，常被切割成“采集—诊断—维修—采购—生产”五段孤岛。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E9A75-E93E-4C79-AE2C-1EC84B2C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352800" cy="24003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C2CEA-C88B-4DB6-B64D-6990E9D7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C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7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F8F40-B0B6-418E-BED2-DF391C5E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数据碎片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6855A-958F-4536-BA9D-A070D1D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2933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振动、温度、图像、日志与资产资料分散；信号质量和冲突往往没有先被处理。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4AFC9-E8CC-45EA-BB93-8949F978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3352800" cy="24003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F80F9-5C1F-4601-B5EC-FCED4255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67A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7A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DAF7E-7063-46AA-84E5-EE1D5CB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决策脱节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4820D-A421-4DB8-AE0A-22B8AEC0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2933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诊断结果没有同时考虑人员安全、生产窗口、备件库存、供应限制与停机成本。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B0477-6FF1-487E-9E10-3938EF0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352800" cy="24003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90964-F1B2-454B-85E9-CBC44F0B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A5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5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D4F64-821C-44AA-8011-9F05B1CE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结果不可验证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66E36-E434-43D1-AA49-E3FF1A8F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2933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建议缺少证据来源、审批责任与维修后复测，事件难以审计，也难以沉淀经验。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69D94-3ED3-4192-B031-B680D625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844B6-69C3-43D5-9481-405785EE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目标场景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B4484-C0E1-455C-ACA6-33FAC5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旋转机械 / 关键工业资产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5195D-B63D-417E-87B3-A77B1B5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14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目标用户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94A0E-2994-4D9F-A8FE-6E30E7AB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388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运维工程师 · 可靠性负责人 · 生产与供应链协调者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C43E1-51E4-4382-914D-4954E66B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B8501-8DF3-46C3-AA27-4572445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980373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780328-30ED-4C69-8772-7A2DD74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29563-6793-4813-B12E-2FF499FD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一条事件链，连接设备、人员、库存、供应与生产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EF087-8CAE-4994-91AA-A14DA43E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40032-5B18-4ABA-9398-3BF88B05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3A6F4-10E8-4D49-B0B4-513216F4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核心不是多一个模型，而是把证据、判断、约束与责任写进同一条可审计状态链。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F280C-A51A-46C8-8D10-A0712160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527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8F412-EAE4-48B8-9282-35066B3F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C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7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C0680-39B8-4576-B877-5E7F234E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证据质量门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2EBD7-2BE6-4B3D-AFD5-8B43F120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13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先检查缺失、噪声、冲突与来源；不合格则重采或拒绝下结论。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3FEE0-C2EE-4B1D-AF7E-060C47C5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5527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04C59-A3C3-4954-B824-8972561D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67A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7AF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4D99F-C280-473A-96C9-5A685BC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Agent 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833C2-F004-4339-A714-DB27FB3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9950"/>
            <a:ext cx="213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将信号、资产知识与工具结果合并，输出故障判断、替代解释与置信度。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598FF-D546-4077-B083-A159BA8D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25527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C8905-F08D-4E47-BC8F-3ADB4A27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A5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52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F932B-44C7-49C8-B771-24E4FF84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决策竞技场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E1E04-E3ED-44E6-AFC0-AA85E7F5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3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同时比较安全、生产、库存、供应、人员、成本与能耗约束下的多个方案。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473EB-F0C1-4DF9-93D9-848DFFE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6289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5EA57-2774-49FE-A3CB-1747C979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3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A5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A57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D485E-6FD9-4D7C-9DCF-8F66C0B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337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可验证工单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4B19A-3BBF-4BE0-8C26-B43B914E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09950"/>
            <a:ext cx="2209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授权人员审批后执行；维修后必须复测，不通过则重开事件。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F9384-E2BE-435F-8D5D-0AC734F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C1FB6-431E-494E-8294-7440D0E8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从“预测一个故障”升级为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04B34-FF5F-49E0-BBBD-F16C48C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交付一个可执行、可解释、可验证的维护决策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A6B5B-6AD9-4ACC-BD2F-E8623DFE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82919-7BF2-4319-972F-BDFD1106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404392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0B08D3-90E8-489D-BED3-FBA6A3B0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03 / CORE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8FBB9-9BDD-4CB5-A77E-4B487515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六步闭环：从异常到验证，不允许跳步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40AA9-005C-468B-BE15-012A3A2E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A2AAD-1DFE-4EE0-A5DF-18C8CDBE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1288-519B-42BE-8D00-D18DADEE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8B6CA-E1A4-47C7-98A1-964A5FD0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90750" y="33766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29858-C14A-4F4E-9DEA-E692BA7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4EF0B-CFA3-449E-9B37-ADBDC144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19550" y="33766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A3B45-9DCF-4490-A94C-76AAA7BA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F050B-24EB-4BAB-8C43-D9F9F93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48350" y="33766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40780-3D44-40F6-B5F4-4CD6A400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F1811-0F51-48E0-A87B-7828D8CD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77150" y="33766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3D3B9-63B2-4670-9E75-5E9571CA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96CDB-B6E2-4A08-8AB2-036FE4F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505950" y="33766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1C22E-01E1-4840-9002-E36B199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600200" cy="21717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FBCE6-097F-4FC5-BEAB-E404C9EE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3604F-8A4E-4CB8-A4FF-3BF3B799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多源接入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A2B99-E279-4847-833C-6B4625C4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设备流 / CSV /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C4A9F-CC76-4605-B877-30A5F5D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33625"/>
            <a:ext cx="1600200" cy="21717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1FB57-474F-41ED-AAA5-FBA5C1A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41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16741-0B11-4DE1-9E19-5F3A1148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7220B-AB85-43AC-99D0-F3E6B1E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719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缺失 / 冲突 / 异常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889249-C367-46B5-8CD6-1A036869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1600200" cy="21717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5BFF1-B826-4BEA-8701-B36BFB2A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241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212918-4EBB-47FE-ACD3-8D1C81E4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诊断 + RUL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D29F7-2E92-46B8-8423-E99B1DE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719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故障 / 区间 / 风险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DF68C-66BB-470F-AA40-3C68A2F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1600200" cy="21717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6CE389-D278-4CE3-8A66-4F9B52C7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A5802A-4B38-4FB9-87A2-A9626DE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多目标决策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35B919-0A9A-4B6F-AD77-FAB563BE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安全 / 生产 / 库存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C821D-D296-45E1-BF7A-6A334352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1600200" cy="21717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A04C4-DB7D-460A-90B3-205D7C02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2E1002-C78C-4710-9448-B575E08A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6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人审 + 工单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691BEC-E3CC-47C7-BF7E-CE51CBEF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选项 / 审批 / 责任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F65673-1194-4CC1-9DF8-9A37A50E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33625"/>
            <a:ext cx="1600200" cy="21717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9D4179-177B-42D4-BBD4-1C6B0326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241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93500A-CAB0-4334-9301-2427A61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0515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维修后验证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7910C-8A0F-4005-8275-6072F18C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719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基线 / 复测 / 归档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47D03B-43BF-4B29-9EDF-104C113E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09650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324AE6-4475-40DF-B908-E5A65AEB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状态约束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BFFD19-7CC9-492E-B1AF-C774697F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1497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无诊断与可靠性依据，不出方案；无人审，不发工单；无验证，不关事件。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C82518-08EE-4F00-BBBF-650DA53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0EB9DE-61CA-4CF5-B47B-B307EDC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1876994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83AE31-5C4D-4902-BEE0-C643D38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04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8D951-273D-4A90-82A0-E7EADB60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硬件中立的边缘架构，默认离线确定性路径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B7F1A-44C2-419E-8143-C7F8AFDC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66857-03EE-4179-BE4E-D4EB291D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0FC53-86EB-4E52-8270-A812E21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42F50-12D9-4E52-834E-F2B0079D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25" y="3529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58A75-9A0C-411D-977E-EE3ED57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83ECF-9235-43A6-BB27-CB044CB3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34025" y="3529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F348A-AE10-43D8-93AB-7B748C65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7CC1B-EBF8-4902-B2AA-D44A8F8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201025" y="3529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D34D3-4ED9-478D-80FA-2270102D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362200" cy="32194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C741C-A338-4D48-8883-7334E4D2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4A64E-4ABC-4BDA-8B4D-D008819A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多源输入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E85E1-518C-4525-B0D9-F22EB16C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D0777-99DC-4F1C-B777-F40CA17D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振动 / 温度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D0FB7-A629-41A6-9622-455A61BB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EAA79-66BD-4B9F-A91C-2C354B47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图像 / 声学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98449-5F0D-4154-B658-A1B322D4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42EB1-145E-4440-9CA9-9E28B16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历史 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39DC2-F184-4110-8DA9-7B9A5E1D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07141B-6B24-44A4-B948-B78C3AE3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设备与业务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EA518-BAE9-4D87-8638-6FB09F18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2362200" cy="32194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C362A-F879-40B3-9C26-6A60B2F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2AE90-C629-4001-86FD-2832EDF8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边缘节点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EC8EC-B603-4F8C-AAB0-EC201D4D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222A2-CB34-4180-B084-07E5955C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采集适配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9D4C2-F7CE-4347-A6B8-38C18F37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D0B41-A9F3-49B4-8B40-9939785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71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信号处理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C18FA9-C63D-4753-9DE9-20351C89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8CD68E-9A59-4B16-85AD-B04B2006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质量评估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9F7309-939E-4FDF-9B34-396EEEA3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8CAE4-3D61-4751-A7E1-64A167AD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硬件中立接口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C39DF-F033-4F5F-BCAB-074A76D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2362200" cy="32194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21EDC2-6617-4C1B-89ED-80D5C453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B56AA3-7136-418C-B24E-37610B23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0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证据与工具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8D17D-ADDF-475F-97F6-1BEA9F9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E5BC76-5713-4914-A1E1-64799F1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资产 / FMEA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ED8D42-61EC-41E5-9F32-D715EB90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F991D4-AAB9-4B7D-A5CC-9FF4A2B1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手册 / 知识库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51B2CD-B28F-4545-A15D-B38E05A9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4B059-79A9-49E0-BF09-A5DFE90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库存 / MES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9E2DCB-B9DB-4F16-B11D-D9461B3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BD7555-529D-4882-9C76-76A4937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检索与审计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F096A8-B8D0-4E72-A808-6BFB34AF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362200" cy="32194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117A4B-31B1-4B54-8191-69DDA2E0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860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29E081-7A29-4F08-AF91-E6903D7C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Agent 与输出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13AFBA-2308-49CC-A8AF-6979955A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73"/>
          </a:solidFill>
          <a:ln xmlns:a="http://schemas.openxmlformats.org/drawingml/2006/main" w="0">
            <a:solidFill>
              <a:srgbClr val="18A57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B7F2A2-AF7A-4C29-9F75-F9139E48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诊断与 RUL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299BC7-957B-48AE-86EE-9CDDF80A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73"/>
          </a:solidFill>
          <a:ln xmlns:a="http://schemas.openxmlformats.org/drawingml/2006/main" w="0">
            <a:solidFill>
              <a:srgbClr val="18A57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B4CCC8-9097-4A30-8E7A-C4E25466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多目标方案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EA7F30-F938-4EA8-8BA6-2327FD22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73"/>
          </a:solidFill>
          <a:ln xmlns:a="http://schemas.openxmlformats.org/drawingml/2006/main" w="0">
            <a:solidFill>
              <a:srgbClr val="18A57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DC27FF-7388-4357-A28E-5181D82E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审批与工单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0652FA-3E92-4A1B-BD91-DE90F8E7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73"/>
          </a:solidFill>
          <a:ln xmlns:a="http://schemas.openxmlformats.org/drawingml/2006/main" w="0">
            <a:solidFill>
              <a:srgbClr val="18A57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AC6291-6C3D-4AFF-A037-D620EAE6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0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维修后验证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337035-E121-49CC-BC80-2E568D2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FAC12B-08E0-4836-ABB2-31371E82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运行时：CPU / ONNX Runtime / TensorRT 可按边缘资源选择；外部 LLM 仅为可选解释能力，不能绕过确定性安全门。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CB3E32-1E7B-41FF-BB91-7459F4C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0967D1-3DE2-4928-B674-56B7B17C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1515105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E627A-BD69-478C-BA1F-349A66BD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05 / AGENT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046F9-94E3-465B-865B-02ACA316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13 个 Agent 不是自由聊天，而是受合同约束的状态机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E3B9F-502C-4886-BF46-AC871721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713AE-86D9-4CD5-A849-48DC90F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E0E71-015E-4D39-B9E0-A1198C5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6591300" cy="4171950"/>
          </a:xfrm>
          <a:prstGeom xmlns:a="http://schemas.openxmlformats.org/drawingml/2006/main" prst="roundRect">
            <a:avLst>
              <a:gd name="adj" fmla="val 5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1220d817a4c6a"/>
          <a:srcRect xmlns:a="http://schemas.openxmlformats.org/drawingml/2006/main" l="0" t="59" r="0" b="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809750"/>
            <a:ext cx="6438900" cy="4019550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F3ED2-1A29-4645-81D3-78CC427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41148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C64FC-BDAD-4CFB-8BD7-9F81E59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证据层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28EA8-B55B-4B54-BA10-4ECCB66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质量 · 感知 · 工业知识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9DAF2-DB8D-4B40-8001-5463B231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71800"/>
            <a:ext cx="41148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74EE-1687-479B-99CF-385355A8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527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决策层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F99E5-3027-4FAB-85FB-6DE03D6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0520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诊断 · 可靠性 · 安全 · 韧性 · 可持续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D8B74-B065-4F16-8984-F65F1A0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33850"/>
            <a:ext cx="41148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7C804-2C3E-4CC6-B363-0255800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EF3FB-2E59-4D03-84BA-EF141C4E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规划 · 治理 · 工单 · 验证 · 协调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84636-05D6-4D03-AE6F-05FABBA4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95900"/>
            <a:ext cx="41148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8C836-07BD-4296-ABD6-775EBFB0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102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8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 → 证据 → 工具调用 → 建议 → 人审，关键状态全程可追踪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3CB2F-50F2-4462-8B73-440B3A0E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AE82A-849A-4942-81FC-1722BBC1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1577509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4AD8F-CAD8-4ADF-9658-D962E8A6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06 / DATA · TOOLS ·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29226-63F7-4819-BC25-5E6F63D4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围绕证据链组合，而非黑盒式单点判断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5F375-5FFF-4290-AEBA-B01756DE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7E88B-F203-40D4-986C-E8A13443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1CBCE-ED40-4778-9FC5-C366E53E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721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1F483-9AA4-47A9-9D18-0707A3E1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3E464-38FB-4378-A9E4-E7C48F4A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62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多源数据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3196B-7B1B-49F0-891F-1E16FBE8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384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振动、温度、图像、日志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实时流与历史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147B8-6574-4953-9380-BEBB4531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3721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EBF0-9DAB-4D2C-9B5B-0467233E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726F4-C39D-4483-87B2-2147EDA3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62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工业知识工具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7296C-8176-453C-9DBF-6FE46F9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384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资产台账、FMEA、手册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设备上下文与替代解释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39743-0AFE-4B9A-AE9E-959B5877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3721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3495D-2AB5-4DA8-BA8A-AE51EF3A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86F23-5900-45E1-80EF-A5515066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业务协同工具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67D90-0228-4DB1-9C85-95AA0F89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库存、生产、人员、工单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约束查询与行动记录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18992-C958-444D-8494-DD010DEF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53721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5B576-57B4-4F82-853E-BADB79FB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91D74-B5C4-44A6-BEEE-BD484FED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模型与运行时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FFBB5-748F-4029-AB4B-A30EB71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DSP + HGB / ONNX / TensorRT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确定性路径 + 可选 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4BBD7-587B-41C7-8722-C22B2B79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E1FF1-7658-4C68-AB73-5A62E19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86425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模型输出必须携带证据与置信度；数据质量不达标时，先重采或拒绝结论。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75251-7E1B-45A2-817D-CD816F32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84FBC-71CB-43F8-BF0E-33C067A9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52515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A4F33-E657-4DB4-B15C-BA0B650B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07 / PRODUCT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9C077-2875-4E9B-B6F7-5C35987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已有可交互产品：桌面启动、浏览器操作、内置场景试用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DE3A9-58E9-478B-94BD-4CB8DA65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D2AEB-98C3-43EC-B326-A706623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10F9C-7A6A-42E6-8AC8-54F0B214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6858000" cy="4343400"/>
          </a:xfrm>
          <a:prstGeom xmlns:a="http://schemas.openxmlformats.org/drawingml/2006/main" prst="roundRect">
            <a:avLst>
              <a:gd name="adj" fmla="val 4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acf34da1c4c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809750"/>
            <a:ext cx="6705600" cy="4191000"/>
          </a:xfrm>
          <a:prstGeom xmlns:a="http://schemas.openxmlformats.org/drawingml/2006/main" prst="roundRect">
            <a:avLst>
              <a:gd name="adj" fmla="val 318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2F03D-E61C-49E3-ACF8-3D75C928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8481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C9D96-E7E7-4EAA-A39B-C070E33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771C4-7CE7-4769-92D1-29048B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实时流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E2A77-FD8B-4CED-B357-4E271092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采样率 / 转速 / 负载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16025-A38B-47DF-9433-5F1A58A0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8481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6BCD2-B51C-4BA2-A081-A328E1D1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AFE8B-35C2-4D16-9AB7-509C3ED2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98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CSV 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5B541-340D-4260-94EC-0B3B274A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本地批量分析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448FC-B6D0-49B4-AEFD-BBD3190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38481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F6D1C-A576-47CB-A5C5-991D0372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8897D-36E2-4265-9C01-F755A25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861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场景库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6F7A8-A561-4506-95CE-1623C6E0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25 个模拟工业场景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D8B5D-5B86-4748-B59E-4974BF93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8481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34266-5A02-4A3A-8E4B-8022AB03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2399A-E6F9-469B-BF81-64B4CF38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624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桌面入口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1787D-7715-4C5C-A283-41BCF36C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387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Windows EXE → App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89AAC-CDC8-4004-9078-E2E5F56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24500"/>
            <a:ext cx="3848100" cy="476250"/>
          </a:xfrm>
          <a:prstGeom xmlns:a="http://schemas.openxmlformats.org/drawingml/2006/main" prst="roundRect">
            <a:avLst>
              <a:gd name="adj" fmla="val 34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D7232-888C-494F-B3F8-B4E80D46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292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默认确定性演示路径无需 API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D53A5-32B9-4FAD-89DE-1BB83FC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87087-1501-491E-AF5A-DFD29995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737117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C11DC-CCF7-467E-A098-59950D68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08 / DEMO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D9523-E164-4516-9F85-8024BDE4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示例：轴承外圈剥落，从证据到寿命区间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907A8-B521-4E2E-9F0E-393073C6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92071-F044-47B4-B51D-4A0EBA64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11EFF-ABB9-4342-812C-A652D8A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7143750" cy="415290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abdb9ffe04fab"/>
          <a:srcRect xmlns:a="http://schemas.openxmlformats.org/drawingml/2006/main" l="0" t="4223" r="0" b="4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809750"/>
            <a:ext cx="6991350" cy="40005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03799-D0E3-4404-9C68-6707688D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62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81B13-F52D-43E4-88AA-EB6B4451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7808C-4451-4976-9DD1-59969D9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周期性冲击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351C1-826B-455D-B202-3A7AEADB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860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来自内置信号场景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7A616-5561-44CD-A3C1-BE732F07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562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F4632-3DD5-4484-B2C0-5EF6F96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95B60-DF77-4698-BB7B-904765B4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外圈局部剥落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37345-1635-4E65-B8BA-278FF0AB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909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模拟置信度 97%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35219-C91F-45C4-B1A9-99C886DF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19550"/>
            <a:ext cx="3562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C8A97-7BAC-49AB-8546-88D6E84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rPr>
              <a:t>可靠性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D5D7C-D641-4689-8693-B5D1CAE5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RUL 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976DA-5EC5-4316-A18B-39DA7C98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958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P10 16.7h / P50 24.5h / P90 36.3h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34F3E-0EFB-4040-89ED-33E80A5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57800"/>
            <a:ext cx="3562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35E33-48FE-4565-805B-9D1BB931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625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rPr>
              <a:t>边界：该页用于演示流程闭环，不代表真实工厂准确率。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2E553-2E55-4D99-9139-2B157B64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D52C3-2590-471D-9FD0-E9E29BB9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9012453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7556E-E365-473B-AD4C-3B648ECB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09 / DECISION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D96C9-54A3-40E1-AC34-B9AF9B24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把维修建议转成可审批的行动选项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D90B5-EBD8-4FA6-AE60-0D87560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EF5A9-9153-4181-BF3B-4180A91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E51BA-8C49-48F8-8F47-1AC2AE6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6991350" cy="415290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cd3c840194445"/>
          <a:srcRect xmlns:a="http://schemas.openxmlformats.org/drawingml/2006/main" l="0" t="3203" r="0" b="3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809750"/>
            <a:ext cx="6838950" cy="40005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08601-F1AD-4D47-9FA1-3C55A0E0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09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同一诊断，不只给一个答案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A83BC-90F7-4543-82D7-8E9D9BD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17907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80B4D-CA0D-42F7-B5C9-E6D55F0B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rPr>
              <a:t>人员安全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3E70F-FA45-42CE-8A53-FAF64A7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技能与班组可用性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9631D-AB3E-4466-8D85-64E11C8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17907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12F0C-C383-4576-91FE-AE1509B4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527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生产影响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48C42-6C63-4EFF-924D-109F395B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停机窗口与缓冲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B90DC-D24A-440A-88B7-004EC1B2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17907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84EC4-7426-4F9F-9687-6928E2A3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rPr>
              <a:t>库存 / 供应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BF2A3-36E6-4F67-810A-1DB468FD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备件数量与供应限制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7B918-DE86-4304-9D2C-A3FD078C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43300"/>
            <a:ext cx="17907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2B831-B429-406B-B8DF-BFCF6708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14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成本 / 能耗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00CE0-9EDC-44F6-92BB-ABC21B1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767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费用、损失与节能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FE501-F90F-473F-8E49-371F2C63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371475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5D869-5429-45FE-B143-8F45907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0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执行门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553D3-0189-4A8D-840D-A744D17F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系统给建议，人类做审批；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平台不直接控制真实设备。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7C0C9-8FB6-4AE9-981E-7428B3B2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80043-F71D-42F4-A57F-0FB9853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753066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888CBA-D364-46CD-B60C-F532F8BB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10 / SAFETY &amp; FAILURE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5130D-657B-4A4C-BCCE-1CDD1C6F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不确定性不是被隐藏，而是触发动作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F917D-D9EC-4FDC-8542-9191CC6F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EED3F-D775-4CD2-AC00-3DE6A187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61F05-7CFA-448C-B003-1139CBD0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71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A720B-6ADA-44A8-9C1E-2756415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652713" y="25812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DBBB-CF46-4E21-893D-0B88B59B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86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E057E-3EA8-450A-B364-642F2A3F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76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8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652713" y="34956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44FBB-D65F-452B-BE0A-3348BEAF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00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C5C48-CB7A-4FA5-88B6-C4C9BB08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52713" y="44100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1C5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2F22B-8E8F-45AF-A246-C893409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076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AB5C3-308A-40EF-B665-462C8DA6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CE0D0-79EB-4E87-AD0D-6A2BF69D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76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数据质量检查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DD561-DD0D-4754-A525-3C46EB3D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来源、缺失、噪声、冲突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B80B9-7285-4376-AF98-3FBC85B7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076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35892-DAE1-4CF4-A143-B7AA85D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C6080-7C82-4BED-861E-D5808426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诊断与可靠性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A5880-181F-4FDA-8E75-B28CDAFC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76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置信度 + 替代解释 + RUL 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556BB-18BA-41E0-9143-BCC803D9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076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7454F-0436-4D31-90CA-A49FFB8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A58F8-434B-414F-A157-1631EAD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05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授权人员审批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54FA1-EC4B-4710-8F9F-A5E647A8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高风险动作必须人工确认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12B0F-8E4A-417C-850E-01DDBAB3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076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BF88E-8A11-4859-87B9-69F0863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300D6-6650-4883-A451-5451631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维修后验证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E4180-D2B9-4920-8EB3-15E644F6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不通过则重开事件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4A187-913B-4DE8-8A53-1B55C6CC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63627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519566-5DFA-4097-8DFF-7DC1E9E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431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143F12-4F11-4FD6-8CAF-4A407204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3365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低质量或矛盾证据 → 重采 / 拒绝结论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48B077-AD91-4521-B28B-BB8F638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63627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9EB5AC-F4B4-47C4-81FD-BA08DF83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432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rPr>
              <a:t>人审门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62D81-FCA8-46C6-A97E-B94743F2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3380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无授权批准 → 不创建工单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A31E92-6C7D-4D74-815E-5DF8B4DD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63627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BAF28C-1A39-4298-8D48-E173EFE8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434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F6874A-49C2-4C5B-947E-4E7891CD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无维修后复测 → 不关闭事件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5F64CC-D265-4BB3-A21B-F9F472D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62600"/>
            <a:ext cx="63627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A45D6C-2D06-45F5-B769-F6000CC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48325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明确不做：绕过人工授权、直接控制 PLC / 机器人 / 产线。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8456F-50AE-4114-880C-8B50858F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CC39B6-2EE0-44F2-98D4-D4AEE73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6694252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371299-F51E-41C8-8B5A-EDA0514D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11 / 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1B71-D481-43F8-9745-BF62CE10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当前证据：可重复的模拟基准与故障注入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06933-0A6F-4B2A-96F0-A761EB31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C18A4-BA42-4D86-A014-0F0BC8F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7DBA1-F3AD-45AF-AC87-152849F4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636A6-87AD-410B-99C6-C591CBCC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49EDB-0071-431D-B11A-94AC4A6A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0.9342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6331C-B102-4E5C-91D9-EA8FCD74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0BCFE-C85F-4537-99C9-46AE80E6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OpenEval-RM 物理启发模拟测试集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FB948-CB12-49D2-81ED-55D673A9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A38DC-A941-411A-8C7E-C94FC66E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AD5AD-6B65-425B-A68F-5D07C850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13.912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4E27-13DF-4D6A-AF5B-3A84AEBD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p95 CPU 时延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061E8-9426-4B0E-B458-872C958D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单窗口推理，当前基准记录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382B2-E49C-447F-9A4A-CA1CB06B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E204C-12AF-4ECF-B71C-4545AA58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573"/>
          </a:solidFill>
          <a:ln xmlns:a="http://schemas.openxmlformats.org/drawingml/2006/main" w="0">
            <a:solidFill>
              <a:srgbClr val="18A5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4B5EE-D579-4183-9D09-8B44D607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EF3B8-94B7-4F10-A38C-916CAEDC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损坏信号安全响应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51B18-8DA2-40DF-A5EA-5ED8BD95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可重复信号故障注入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FFAA1-DBF1-4A19-A638-467A4A6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6800850" cy="165735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A4C19-39DA-4D60-A8BA-B41A106F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基准设计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D3E53-60DB-49DB-9933-AF41D387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75662-3466-4954-9BD2-AAA4FBF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598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训练 / 验证 / 测试：288 / 64 / 96 个窗口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67A17-66FA-4CB8-9617-95A2737A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FE9D8-4A95-41B7-974F-9692038E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598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按机器组划分，避免同一机器窗口跨集合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D46D7-2267-4E06-99B4-22447EF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413E7-6E46-4E48-A940-C3C25926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598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同时记录鲁棒性、校准误差与运行时延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784CE-D00E-464F-9AC9-C6D1F70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29100"/>
            <a:ext cx="3905250" cy="165735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68AC57-1611-48C8-B033-70AECBA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rPr>
              <a:t>科学边界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78419F-5751-40FD-8F67-23C5F549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3448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以上来自物理启发模拟与故障注入，不能替代目标工厂的真实数据验证，也不构成认证安全性能。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FD7F1-6324-4A57-952B-2DA6DD18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52D98-A602-42FC-8068-1528D4FF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7619607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FFDD79-30D9-487B-8723-E4733616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12 / REPRODUCE ON A NEW PC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54125-7E5A-4355-BCD8-4F8F4934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推荐路线：Windows + Docker，5 步看到完整闭环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1B3E9-E7DC-49D4-802F-81069A43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7A3B5-6DEA-4497-962B-56C81B0B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AB08C-E7A4-46AA-893C-0E3F999D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48000" cy="405765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7E261-2D75-47D2-B45F-5B00370E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新电脑准备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9F9A9-1FD0-4AE9-8B74-8482E363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2FCCB-64E2-4CFC-92E8-58B6ADE0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Windows 10 / 11 x64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9126A-F0F0-4796-B0D4-EF2B440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BB3C8-C944-4CCD-A024-94939E7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Docker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85087-6ED6-4EA2-BDD7-20928665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3715A-C154-46B7-BDEC-CC258B69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Microsoft Edge 或 Chrome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21072-43AB-4382-A4C3-50B62149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3DAE0-AF9D-48BA-BB7A-10F59AE7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ForgeGuard 完整项目包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2B341-70A2-4FDB-9CFE-627A2282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B5"/>
          </a:solidFill>
          <a:ln xmlns:a="http://schemas.openxmlformats.org/drawingml/2006/main" w="0">
            <a:solidFill>
              <a:srgbClr val="20C7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61B0B-D9F3-47C7-9A64-7BD726E3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首次构建可联网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8B0EF-8E2D-4162-B4B5-E0224D42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590800" cy="4191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F101D-C282-43D1-8AC5-84238124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默认演示无需 API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EC754-5092-4F89-B89E-AD1B43A3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6A4AB-637C-4DBF-8B93-30FC71C4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669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解压完整项目包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650FA-7BB5-49CB-B798-C9E32393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不要只复制 EXE；保持 compose.yaml、backend、frontend 等目录完整。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883CF-530A-4C41-91B6-9D99A3F6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D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7CBEB-2D08-4361-82DD-7C5FC82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AF3C6-E87B-4CE6-8FB4-86EFFC8A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启动 Docker Desktop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94CCB-AD4F-4C0A-88B8-F72C77CD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8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等待 Docker Engine 就绪；首次构建需要下载镜像与依赖。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28568-EC44-4DC7-BDA1-439DE2CB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D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D3CBC-4B68-4C0C-83B8-E39FF324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2EBC3-8801-4DCB-B146-05543FFE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052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双击 ForgeGuard-Nexus.exe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969CF-D8C3-4A24-9B73-C09BFE07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100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启动器自动构建服务、等待健康检查，并打开独立 App 窗口。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0C5FA-5D54-4EB0-8443-9657683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62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DF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C8BCA-8D33-41D1-9D71-510A643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35AA74-4B80-4A04-BBA7-9D600C27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打开并确认首页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12FEFE-FD10-45BA-92AB-437DE34F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291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未自动打开时访问 http://localhost:8000。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7E46A-ADC4-4157-9181-ABA02750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815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DF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82F94D-84D7-48F0-AECD-6A11101F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7D16C-97A0-4587-B8DC-1557321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435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跑通闭环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DC3043-867F-4025-A3DB-F09B7D80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483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场景库 → 轴承外圈剥落 → 运行 → 事件详情 → 维护决策。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2A5F80-5ADD-46F0-90A3-C6D0DADA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43600"/>
            <a:ext cx="7486650" cy="4000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07C152-8705-4336-957D-E9A9E94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29325"/>
            <a:ext cx="710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成功标志：/api/v1/health 返回 status=ok，并能生成事件详情与维护决策。停止时双击 ForgeGuard-Nexus-Stop.exe。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F622A1-3CD9-4376-9FF3-3D1EF525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新电脑复现 · 推荐路线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6D110B-59CC-4C04-811F-8B160F2E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4411125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0C6923-5410-4F90-8D2D-834F37A7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13 / NATIVE FALLBACK &amp;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276B4-17D2-4F31-9A8E-0AA2EB90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无 Docker 也能复现：原生 Python 备选路线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7D472-02EE-44D6-91A4-FA5A4C54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405A2-C443-45F5-813C-6D00170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B82EA-7406-4A19-B4D5-736812D5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4108C-01DF-4BDD-B032-F1227C3F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0BAD3-C417-4438-8130-331B604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预装 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5F4F1-1C62-434A-A9E8-569ADD05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CPython 3.11 / 3.12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B8B52-B63E-4EC8-A63D-B425DF18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5DC9D-C7DA-4F2C-B67E-82B4CAD0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安装环境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E1C99-0D17-497E-94C0-27FE4BC3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install-native.ps1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536D0-06BF-4005-8AFC-F375771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FB1D4-870F-444A-AC38-5D11BC4B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启动软件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ACF10-8EEE-4318-8132-D6EEB74F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EXE 或 run-native.ps1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89F16-A8ED-4F08-A385-6AF02AC6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383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1C3D9-4E4D-4820-9ECE-EBBC742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按同一场景验收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15B5A-5B70-42FA-B57C-F0F7B1B5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健康检查 + 完整闭环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2D4F5-F1DF-48A1-8DA3-E9E13FE9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80085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FEC60-A3A3-4228-B645-AA1633B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PowerShell 命令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60FCF-447C-4D9B-BF5A-554F1E13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63436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91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56A4C-5F54-4370-9624-A5E6D2FF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powershell -ExecutionPolicy Bypass -File .\deploy\windows\install-native.ps1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AE9B4-ED03-49D4-867C-3CFE8F2A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环境缓存：%LOCALAPPDATA%\ForgeGuardNexus\venv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0E5BA-02FF-4276-AB03-33BCB9D5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05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8D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3E0"/>
                </a:solidFill>
                <a:latin typeface="Microsoft YaHei"/>
                <a:ea typeface="Microsoft YaHei"/>
                <a:cs typeface="Microsoft YaHei"/>
              </a:rPr>
              <a:t>首次安装需要联网；依赖未变化时，升级或更换项目目录可复用持久环境。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B6F37-44E7-42EE-878E-C9F19C78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390525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A8144F-E933-4089-A676-826F7A9B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验收与排障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E5F36-CB54-4EEB-9834-8EECA32F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6641F-8BBF-4DF7-AD42-EEC5883F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找不到 compose.yaml → EXE 被单独移动，放回完整根目录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049FAF-7115-432E-81DD-999B5DA9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60CF9-1828-40E5-85EE-EB1B8499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Docker 失败 → 检查 Desktop、代理与磁盘空间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F3463C-F970-45B6-8E07-43404431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070A2-D9B8-46DA-9957-44A512D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149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Python 不可用 → 先安装 3.11 / 3.12，或改用 Docker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78AD7E-74DF-405A-ADFE-A8C0017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8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AF6"/>
          </a:solidFill>
          <a:ln xmlns:a="http://schemas.openxmlformats.org/drawingml/2006/main" w="0">
            <a:solidFill>
              <a:srgbClr val="367A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52BB81-DD84-4A01-951E-9FB7C3D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14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窗口未出现 → 查 Edge/Chrome 与 windows-launcher.log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F707F-983E-48F9-BB2C-7292952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24550"/>
            <a:ext cx="3448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734AA-D31C-4B8D-BD46-880FCD35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72175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8A5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573"/>
                </a:solidFill>
                <a:latin typeface="Arial"/>
                <a:ea typeface="Arial"/>
                <a:cs typeface="Arial"/>
              </a:rPr>
              <a:t>停止服务：ForgeGuard-Nexus-Stop.exe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B2D133-E54A-4997-A5F4-BF32AE9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新电脑复现 · 原生备选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8FB4FE-6CB0-475B-AB2C-1FE8233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5808631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0233A-155E-4900-A696-1FB33BDF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87E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75"/>
                </a:solidFill>
                <a:latin typeface="Arial"/>
                <a:ea typeface="Arial"/>
                <a:cs typeface="Arial"/>
              </a:rPr>
              <a:t>14 / OPEN · COMPLIANCE · LANDING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8C4DC-DBCC-4142-9AB9-196A8C3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先完成可治理闭环，再接入真实工厂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F8D68-8CE4-4D66-BBCB-909F75C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69417-EEA0-46B6-A623-6674B11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AF2B7-FE9A-49E2-89B5-A2673201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5280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7723D-B21A-4A7F-8CEE-E24C0FD6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C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7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67CF2-D402-4C5B-9215-1A2AA8C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开放复用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76388-FF4C-49BC-81B8-63EF1C42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Apache-2.0；完整源码与 Windows 启动器；Docker / 原生部署；提供 Manifest 与软件物料清单。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BBCDF-246D-4A29-AAC5-FF7BF6D3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35280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F027B-5852-4D10-A77D-353E7D3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43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67A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7AF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803FA-112C-47DB-BA5C-3C8FCE80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431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数据与知识产权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4C366-E4ED-4BF3-B4E7-F228965D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默认演示使用合成 / 模拟数据；真实数据接入前明确所有权、授权、用途、留存、地域与删除机制。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EC6D1-577B-4CC0-9A4F-FEA8A61B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35280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9525">
            <a:solidFill>
              <a:srgbClr val="E7E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D3B0A-7621-4A17-A018-3080E446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43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A5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A5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567F8-0E04-40EF-AF5A-6874F6B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431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真实落地路线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32329-5DD6-47CC-9A6D-E0B8A00E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阶段 A：单设备 PoC；阶段 B：接入 CMMS / MES / 库存；阶段 C：多产线治理与规模化复用。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CC0AF-6222-4808-9054-6F438B2F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落地评估不只看模型分数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D93BA-F6ED-4107-BAB3-1477A572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E75"/>
                </a:solidFill>
                <a:latin typeface="Microsoft YaHei"/>
                <a:ea typeface="Microsoft YaHei"/>
                <a:cs typeface="Microsoft YaHei"/>
              </a:rPr>
              <a:t>告警提前量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B144A-2D64-4D4F-857B-8D9590E3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57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7AF6"/>
                </a:solidFill>
                <a:latin typeface="Microsoft YaHei"/>
                <a:ea typeface="Microsoft YaHei"/>
                <a:cs typeface="Microsoft YaHei"/>
              </a:rPr>
              <a:t>误报 / 漏报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60A84-084B-434C-A3F3-A801F22A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57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524"/>
                </a:solidFill>
                <a:latin typeface="Microsoft YaHei"/>
                <a:ea typeface="Microsoft YaHei"/>
                <a:cs typeface="Microsoft YaHei"/>
              </a:rPr>
              <a:t>非计划停机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F0DA8-B785-4EB8-A67B-A51FDF2D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57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4C64"/>
                </a:solidFill>
                <a:latin typeface="Microsoft YaHei"/>
                <a:ea typeface="Microsoft YaHei"/>
                <a:cs typeface="Microsoft YaHei"/>
              </a:rPr>
              <a:t>审批与审计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A0EEE-8E77-438D-A72C-E6CAF8E2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57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A573"/>
                </a:solidFill>
                <a:latin typeface="Microsoft YaHei"/>
                <a:ea typeface="Microsoft YaHei"/>
                <a:cs typeface="Microsoft YaHei"/>
              </a:rPr>
              <a:t>工单闭环率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1F875-114C-498C-AE48-171F9CCC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CFE46-3E72-4ED8-80A4-9102A62E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1055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真实工厂上线前：现场数据验证、模型校准、权限审计、回滚与人工责任边界必须共同验收。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52043-3B1E-47C6-BBC6-2259D1DF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ForgeGuard Nexus 5.0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EAC99-061E-491F-A79F-4DC1D4ED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329129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88788-F2EC-4635-936A-53459DE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114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A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FORGEGUARD NEXUS 5.0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6FA00-646D-4723-BC24-A0E4C7A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906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交付的不是一个故障标签，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而是一条可验证、可审批、可复盘的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工业行动链。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227BE-5F6B-4597-8B53-6040D023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5146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72537"/>
          </a:solidFill>
          <a:ln xmlns:a="http://schemas.openxmlformats.org/drawingml/2006/main" w="9525">
            <a:solidFill>
              <a:srgbClr val="2638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8A04A-A197-445E-B31C-9A830945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行业价值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F00F9-21B0-4C05-949C-87FC7913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运维 × 供应链协同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2F62C-60D8-410D-8DD0-FB3A58F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91000"/>
            <a:ext cx="25146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72537"/>
          </a:solidFill>
          <a:ln xmlns:a="http://schemas.openxmlformats.org/drawingml/2006/main" w="9525">
            <a:solidFill>
              <a:srgbClr val="2638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96C42-EDED-4028-B772-BF286B1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Agent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DFAE4-3842-4D80-B12A-5D89300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720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证据到验证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94FEE-7C07-453C-82B7-94551BA1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5146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72537"/>
          </a:solidFill>
          <a:ln xmlns:a="http://schemas.openxmlformats.org/drawingml/2006/main" w="9525">
            <a:solidFill>
              <a:srgbClr val="263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11DB8-6F35-471D-91B2-3033B43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产品证据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69487-1BF5-4B93-B9C1-336F4A4A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720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可运行界面与场景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A9003-0215-467D-9349-B15731E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25146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72537"/>
          </a:solidFill>
          <a:ln xmlns:a="http://schemas.openxmlformats.org/drawingml/2006/main" w="9525">
            <a:solidFill>
              <a:srgbClr val="263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2E8B-E8C2-4BD9-BEEC-A249C89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C7B5"/>
                </a:solidFill>
                <a:latin typeface="Microsoft YaHei"/>
                <a:ea typeface="Microsoft YaHei"/>
                <a:cs typeface="Microsoft YaHei"/>
              </a:rPr>
              <a:t>安全治理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27F2A-7F5A-4D4F-A013-36AF6234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720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质量门 × 人审门 × 验证门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B6EB3-FC1C-4824-A72C-2287E5A0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8D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D3E0"/>
                </a:solidFill>
                <a:latin typeface="Microsoft YaHei"/>
                <a:ea typeface="Microsoft YaHei"/>
                <a:cs typeface="Microsoft YaHei"/>
              </a:rPr>
              <a:t>已具备：完整项目包 · Windows 启动器 · 25 个模拟场景 · 13 个 Agent · Docker / 原生复现路线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FE562-14DF-4E8E-A879-6B219319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FA2B7"/>
                </a:solidFill>
                <a:latin typeface="Arial"/>
                <a:ea typeface="Arial"/>
                <a:cs typeface="Arial"/>
              </a:rPr>
              <a:t>GOAI 无界智体 · 初赛方案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DCBCE-39D2-41EC-96E3-B377C1B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FA2B7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806544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2026-08-05T04:49:28.5190000Z</dcterms:created>
  <dcterms:modified xsi:type="dcterms:W3CDTF">2026-08-05T04:49:28.5190000Z</dcterms:modified>
</coreProperties>
</file>